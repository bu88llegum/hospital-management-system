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1" r:id="rId10"/>
    <p:sldId id="262" r:id="rId11"/>
    <p:sldId id="263" r:id="rId12"/>
    <p:sldId id="264" r:id="rId13"/>
  </p:sldIdLst>
  <p:sldSz cx="18288000" cy="10287000"/>
  <p:notesSz cx="6858000" cy="9144000"/>
  <p:embeddedFontLst>
    <p:embeddedFont>
      <p:font typeface="Forum" panose="020B0604020202020204" charset="0"/>
      <p:regular r:id="rId14"/>
    </p:embeddedFont>
    <p:embeddedFont>
      <p:font typeface="Hammersmith One" panose="02010703030501060504" pitchFamily="2" charset="0"/>
      <p:regular r:id="rId15"/>
    </p:embeddedFont>
    <p:embeddedFont>
      <p:font typeface="Open Sans" panose="020B0606030504020204" pitchFamily="34" charset="0"/>
      <p:regular r:id="rId16"/>
      <p:bold r:id="rId17"/>
    </p:embeddedFont>
    <p:embeddedFont>
      <p:font typeface="Open Sans Bold" panose="020B0806030504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9814" y="8709442"/>
            <a:ext cx="9288371" cy="1097717"/>
          </a:xfrm>
          <a:custGeom>
            <a:avLst/>
            <a:gdLst/>
            <a:ahLst/>
            <a:cxnLst/>
            <a:rect l="l" t="t" r="r" b="b"/>
            <a:pathLst>
              <a:path w="9288371" h="1097717">
                <a:moveTo>
                  <a:pt x="0" y="0"/>
                </a:moveTo>
                <a:lnTo>
                  <a:pt x="9288372" y="0"/>
                </a:lnTo>
                <a:lnTo>
                  <a:pt x="9288372" y="1097716"/>
                </a:lnTo>
                <a:lnTo>
                  <a:pt x="0" y="10977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186916" y="0"/>
            <a:ext cx="4101084" cy="10287000"/>
          </a:xfrm>
          <a:custGeom>
            <a:avLst/>
            <a:gdLst/>
            <a:ahLst/>
            <a:cxnLst/>
            <a:rect l="l" t="t" r="r" b="b"/>
            <a:pathLst>
              <a:path w="4101084" h="10287000">
                <a:moveTo>
                  <a:pt x="0" y="0"/>
                </a:moveTo>
                <a:lnTo>
                  <a:pt x="4101084" y="0"/>
                </a:lnTo>
                <a:lnTo>
                  <a:pt x="41010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505295" y="2506165"/>
            <a:ext cx="11277410" cy="3151339"/>
          </a:xfrm>
          <a:custGeom>
            <a:avLst/>
            <a:gdLst/>
            <a:ahLst/>
            <a:cxnLst/>
            <a:rect l="l" t="t" r="r" b="b"/>
            <a:pathLst>
              <a:path w="11277410" h="3151339">
                <a:moveTo>
                  <a:pt x="0" y="0"/>
                </a:moveTo>
                <a:lnTo>
                  <a:pt x="11277410" y="0"/>
                </a:lnTo>
                <a:lnTo>
                  <a:pt x="11277410" y="3151340"/>
                </a:lnTo>
                <a:lnTo>
                  <a:pt x="0" y="3151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0" y="39349"/>
            <a:ext cx="4101084" cy="10287000"/>
          </a:xfrm>
          <a:custGeom>
            <a:avLst/>
            <a:gdLst/>
            <a:ahLst/>
            <a:cxnLst/>
            <a:rect l="l" t="t" r="r" b="b"/>
            <a:pathLst>
              <a:path w="4101084" h="10287000">
                <a:moveTo>
                  <a:pt x="4101084" y="0"/>
                </a:moveTo>
                <a:lnTo>
                  <a:pt x="0" y="0"/>
                </a:lnTo>
                <a:lnTo>
                  <a:pt x="0" y="10287000"/>
                </a:lnTo>
                <a:lnTo>
                  <a:pt x="4101084" y="10287000"/>
                </a:lnTo>
                <a:lnTo>
                  <a:pt x="410108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067523" y="2771000"/>
            <a:ext cx="10152955" cy="247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3"/>
              </a:lnSpc>
            </a:pPr>
            <a:r>
              <a:rPr lang="en-US" sz="7080">
                <a:solidFill>
                  <a:srgbClr val="E3F4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Hospital Management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86749" y="5835324"/>
            <a:ext cx="8714503" cy="259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3"/>
              </a:lnSpc>
            </a:pPr>
            <a:r>
              <a:rPr lang="en-US" sz="4895">
                <a:solidFill>
                  <a:srgbClr val="071947"/>
                </a:solidFill>
                <a:latin typeface="Forum"/>
                <a:ea typeface="Forum"/>
                <a:cs typeface="Forum"/>
                <a:sym typeface="Forum"/>
              </a:rPr>
              <a:t>By :  Konstantin Permin (10624223)</a:t>
            </a:r>
          </a:p>
          <a:p>
            <a:pPr algn="ctr">
              <a:lnSpc>
                <a:spcPts val="6853"/>
              </a:lnSpc>
            </a:pPr>
            <a:r>
              <a:rPr lang="en-US" sz="4895">
                <a:solidFill>
                  <a:srgbClr val="071947"/>
                </a:solidFill>
                <a:latin typeface="Forum"/>
                <a:ea typeface="Forum"/>
                <a:cs typeface="Forum"/>
                <a:sym typeface="Forum"/>
              </a:rPr>
              <a:t>&amp;</a:t>
            </a:r>
          </a:p>
          <a:p>
            <a:pPr algn="ctr">
              <a:lnSpc>
                <a:spcPts val="6853"/>
              </a:lnSpc>
            </a:pPr>
            <a:r>
              <a:rPr lang="en-US" sz="4895">
                <a:solidFill>
                  <a:srgbClr val="071947"/>
                </a:solidFill>
                <a:latin typeface="Forum"/>
                <a:ea typeface="Forum"/>
                <a:cs typeface="Forum"/>
                <a:sym typeface="Forum"/>
              </a:rPr>
              <a:t>Sabina Sadykova (10624226)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89242"/>
            <a:ext cx="18288000" cy="4559808"/>
          </a:xfrm>
          <a:custGeom>
            <a:avLst/>
            <a:gdLst/>
            <a:ahLst/>
            <a:cxnLst/>
            <a:rect l="l" t="t" r="r" b="b"/>
            <a:pathLst>
              <a:path w="18288000" h="4559808">
                <a:moveTo>
                  <a:pt x="0" y="0"/>
                </a:moveTo>
                <a:lnTo>
                  <a:pt x="18288000" y="0"/>
                </a:lnTo>
                <a:lnTo>
                  <a:pt x="18288000" y="4559808"/>
                </a:lnTo>
                <a:lnTo>
                  <a:pt x="0" y="4559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125961" y="838200"/>
            <a:ext cx="10036077" cy="173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8"/>
              </a:lnSpc>
            </a:pPr>
            <a:r>
              <a:rPr lang="en-US" sz="10141">
                <a:solidFill>
                  <a:srgbClr val="071947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92114" y="2981902"/>
            <a:ext cx="14503773" cy="446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64"/>
              </a:lnSpc>
            </a:pPr>
            <a:r>
              <a:rPr lang="en-US" sz="3617">
                <a:solidFill>
                  <a:srgbClr val="071947"/>
                </a:solidFill>
                <a:latin typeface="Forum"/>
                <a:ea typeface="Forum"/>
                <a:cs typeface="Forum"/>
                <a:sym typeface="Forum"/>
              </a:rPr>
              <a:t>The primary goal of this study is to design and implement a robust "Hospital Management System" that automates healthcare workflows such as patient registration, doctor scheduling, surgical history tracking, and financial billing. The project demonstrates the practical application of a hybrid database approach: using a Relational Database (PostgreSQL) for transactional integrity and a NoSQL Database (MongoDB) for flexible, high-performance data retrieval.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39349"/>
            <a:ext cx="6491574" cy="3434365"/>
          </a:xfrm>
          <a:custGeom>
            <a:avLst/>
            <a:gdLst/>
            <a:ahLst/>
            <a:cxnLst/>
            <a:rect l="l" t="t" r="r" b="b"/>
            <a:pathLst>
              <a:path w="6491574" h="3434365">
                <a:moveTo>
                  <a:pt x="6491574" y="3434364"/>
                </a:moveTo>
                <a:lnTo>
                  <a:pt x="0" y="3434364"/>
                </a:lnTo>
                <a:lnTo>
                  <a:pt x="0" y="0"/>
                </a:lnTo>
                <a:lnTo>
                  <a:pt x="6491574" y="0"/>
                </a:lnTo>
                <a:lnTo>
                  <a:pt x="6491574" y="343436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796426" y="6852635"/>
            <a:ext cx="6491574" cy="3434365"/>
          </a:xfrm>
          <a:custGeom>
            <a:avLst/>
            <a:gdLst/>
            <a:ahLst/>
            <a:cxnLst/>
            <a:rect l="l" t="t" r="r" b="b"/>
            <a:pathLst>
              <a:path w="6491574" h="3434365">
                <a:moveTo>
                  <a:pt x="0" y="0"/>
                </a:moveTo>
                <a:lnTo>
                  <a:pt x="6491574" y="0"/>
                </a:lnTo>
                <a:lnTo>
                  <a:pt x="6491574" y="3434365"/>
                </a:lnTo>
                <a:lnTo>
                  <a:pt x="0" y="3434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209856" y="2715221"/>
            <a:ext cx="15868288" cy="7345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Before technical implementation, we established the "Hospital Policy" to define how data moves through the system. We identified key business rules such as:</a:t>
            </a:r>
          </a:p>
          <a:p>
            <a:pPr algn="l">
              <a:lnSpc>
                <a:spcPts val="4781"/>
              </a:lnSpc>
            </a:pPr>
            <a:endParaRPr lang="en-US" sz="3415" dirty="0">
              <a:solidFill>
                <a:srgbClr val="07194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37335" lvl="1" indent="-368668">
              <a:lnSpc>
                <a:spcPts val="4781"/>
              </a:lnSpc>
              <a:buFont typeface="Arial"/>
              <a:buChar char="•"/>
            </a:pPr>
            <a:r>
              <a:rPr lang="en-US" sz="3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patient cannot be hospitalized without being assigned to a specific </a:t>
            </a:r>
            <a:r>
              <a:rPr lang="en-US" sz="34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Ward</a:t>
            </a:r>
            <a:r>
              <a:rPr lang="en-US" sz="3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available </a:t>
            </a:r>
            <a:r>
              <a:rPr lang="en-US" sz="3400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Capacity.</a:t>
            </a:r>
          </a:p>
          <a:p>
            <a:pPr marL="737335" lvl="1" indent="-368668">
              <a:lnSpc>
                <a:spcPts val="4781"/>
              </a:lnSpc>
              <a:buFont typeface="Arial"/>
              <a:buChar char="•"/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Every financial transaction and bill must have a strictly tracked payment status.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The system manages </a:t>
            </a:r>
            <a:r>
              <a:rPr lang="en-US" sz="3415" b="1" dirty="0">
                <a:solidFill>
                  <a:srgbClr val="0719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 critical entities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, including Doctors, Patients, Wards, and Surgeries. This phase allowed us to map complex healthcare processes into a structured data format.</a:t>
            </a:r>
          </a:p>
          <a:p>
            <a:pPr algn="l">
              <a:lnSpc>
                <a:spcPts val="4781"/>
              </a:lnSpc>
            </a:pPr>
            <a:endParaRPr lang="en-US" sz="3415" dirty="0">
              <a:solidFill>
                <a:srgbClr val="07194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962987" y="616866"/>
            <a:ext cx="12362027" cy="215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1"/>
              </a:lnSpc>
            </a:pPr>
            <a:r>
              <a:rPr lang="en-US" sz="6158" dirty="0">
                <a:solidFill>
                  <a:srgbClr val="071947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The Foundation: Business Rules &amp; Domain Definition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3BE912C-3B00-E94A-1EE8-2255D4463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Hospitalization Requirement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patient cannot be hospitalized without being assigned to a specific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available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426915" y="538487"/>
            <a:ext cx="13434171" cy="9210025"/>
          </a:xfrm>
          <a:custGeom>
            <a:avLst/>
            <a:gdLst/>
            <a:ahLst/>
            <a:cxnLst/>
            <a:rect l="l" t="t" r="r" b="b"/>
            <a:pathLst>
              <a:path w="13434171" h="9210025">
                <a:moveTo>
                  <a:pt x="0" y="0"/>
                </a:moveTo>
                <a:lnTo>
                  <a:pt x="13434170" y="0"/>
                </a:lnTo>
                <a:lnTo>
                  <a:pt x="13434170" y="9210026"/>
                </a:lnTo>
                <a:lnTo>
                  <a:pt x="0" y="9210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9" r="-144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05" y="5817885"/>
            <a:ext cx="3315198" cy="4370993"/>
          </a:xfrm>
          <a:custGeom>
            <a:avLst/>
            <a:gdLst/>
            <a:ahLst/>
            <a:cxnLst/>
            <a:rect l="l" t="t" r="r" b="b"/>
            <a:pathLst>
              <a:path w="3315198" h="4370993">
                <a:moveTo>
                  <a:pt x="0" y="0"/>
                </a:moveTo>
                <a:lnTo>
                  <a:pt x="3315198" y="0"/>
                </a:lnTo>
                <a:lnTo>
                  <a:pt x="3315198" y="4370993"/>
                </a:lnTo>
                <a:lnTo>
                  <a:pt x="0" y="4370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972802" y="0"/>
            <a:ext cx="3315198" cy="4370993"/>
          </a:xfrm>
          <a:custGeom>
            <a:avLst/>
            <a:gdLst/>
            <a:ahLst/>
            <a:cxnLst/>
            <a:rect l="l" t="t" r="r" b="b"/>
            <a:pathLst>
              <a:path w="3315198" h="4370993">
                <a:moveTo>
                  <a:pt x="3315198" y="4370993"/>
                </a:moveTo>
                <a:lnTo>
                  <a:pt x="0" y="4370993"/>
                </a:lnTo>
                <a:lnTo>
                  <a:pt x="0" y="0"/>
                </a:lnTo>
                <a:lnTo>
                  <a:pt x="3315198" y="0"/>
                </a:lnTo>
                <a:lnTo>
                  <a:pt x="3315198" y="43709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946264" y="933450"/>
            <a:ext cx="12395472" cy="880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24"/>
              </a:lnSpc>
            </a:pPr>
            <a:r>
              <a:rPr lang="en-US" sz="5160">
                <a:solidFill>
                  <a:srgbClr val="071947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Database Implementation (PostgreSQL)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8198" y="2203820"/>
            <a:ext cx="15251605" cy="717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We converted our ER model into a Relational Schema, applying the 3rd Normal Form (3NF). This ensures that every piece of information is stored in exactly one place, eliminating data redundancy.</a:t>
            </a:r>
          </a:p>
          <a:p>
            <a:pPr algn="l">
              <a:lnSpc>
                <a:spcPts val="4781"/>
              </a:lnSpc>
            </a:pPr>
            <a:endParaRPr lang="en-US" sz="3415" dirty="0">
              <a:solidFill>
                <a:srgbClr val="07194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81"/>
              </a:lnSpc>
            </a:pPr>
            <a:r>
              <a:rPr lang="en-US" sz="3415" b="1" dirty="0">
                <a:solidFill>
                  <a:srgbClr val="0719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 Features: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Implemented </a:t>
            </a:r>
            <a:r>
              <a:rPr lang="en-US" sz="3415" b="1" dirty="0">
                <a:solidFill>
                  <a:srgbClr val="0719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 interconnected tables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en-US" sz="3415" dirty="0" err="1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pgAdmin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Primary Keys: Ensured unique identification for every record.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Foreign Keys: Established rigid links between tables (e.g., linking a Surgery record to a specific Patient).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Constraints: Used NOT NULL and UNIQUE constraints to maintain high data quality and prevent "garbage" data.</a:t>
            </a:r>
          </a:p>
          <a:p>
            <a:pPr algn="l">
              <a:lnSpc>
                <a:spcPts val="4781"/>
              </a:lnSpc>
              <a:spcBef>
                <a:spcPct val="0"/>
              </a:spcBef>
            </a:pPr>
            <a:endParaRPr lang="en-US" sz="3415" dirty="0">
              <a:solidFill>
                <a:srgbClr val="07194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031375-507D-64BB-9968-4F16E86E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58" y="0"/>
            <a:ext cx="6631858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07E657-7970-AEEB-A3CB-AB178A1E3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-190500"/>
            <a:ext cx="12344400" cy="533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C37BC4-FCF2-2724-1C96-74A4DC548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5142271"/>
            <a:ext cx="12344400" cy="514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867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0DAD-37CF-0B98-C833-05922D33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97C434C-E098-90EB-2916-7E50D4F28E20}"/>
              </a:ext>
            </a:extLst>
          </p:cNvPr>
          <p:cNvSpPr/>
          <p:nvPr/>
        </p:nvSpPr>
        <p:spPr>
          <a:xfrm>
            <a:off x="25705" y="5817885"/>
            <a:ext cx="3315198" cy="4370993"/>
          </a:xfrm>
          <a:custGeom>
            <a:avLst/>
            <a:gdLst/>
            <a:ahLst/>
            <a:cxnLst/>
            <a:rect l="l" t="t" r="r" b="b"/>
            <a:pathLst>
              <a:path w="3315198" h="4370993">
                <a:moveTo>
                  <a:pt x="0" y="0"/>
                </a:moveTo>
                <a:lnTo>
                  <a:pt x="3315198" y="0"/>
                </a:lnTo>
                <a:lnTo>
                  <a:pt x="3315198" y="4370993"/>
                </a:lnTo>
                <a:lnTo>
                  <a:pt x="0" y="4370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AFBAB61-7685-6760-488A-BCD94960432B}"/>
              </a:ext>
            </a:extLst>
          </p:cNvPr>
          <p:cNvSpPr/>
          <p:nvPr/>
        </p:nvSpPr>
        <p:spPr>
          <a:xfrm flipH="1" flipV="1">
            <a:off x="14972802" y="0"/>
            <a:ext cx="3315198" cy="4370993"/>
          </a:xfrm>
          <a:custGeom>
            <a:avLst/>
            <a:gdLst/>
            <a:ahLst/>
            <a:cxnLst/>
            <a:rect l="l" t="t" r="r" b="b"/>
            <a:pathLst>
              <a:path w="3315198" h="4370993">
                <a:moveTo>
                  <a:pt x="3315198" y="4370993"/>
                </a:moveTo>
                <a:lnTo>
                  <a:pt x="0" y="4370993"/>
                </a:lnTo>
                <a:lnTo>
                  <a:pt x="0" y="0"/>
                </a:lnTo>
                <a:lnTo>
                  <a:pt x="3315198" y="0"/>
                </a:lnTo>
                <a:lnTo>
                  <a:pt x="3315198" y="43709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DA54E4-F749-5F7A-1B82-6CCF0CB8138F}"/>
              </a:ext>
            </a:extLst>
          </p:cNvPr>
          <p:cNvSpPr txBox="1"/>
          <p:nvPr/>
        </p:nvSpPr>
        <p:spPr>
          <a:xfrm>
            <a:off x="2946264" y="933450"/>
            <a:ext cx="12395472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b="1" dirty="0"/>
              <a:t>Database Optimization (Indexing)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B4B3B5F-3C19-3765-91D6-D14435065B86}"/>
              </a:ext>
            </a:extLst>
          </p:cNvPr>
          <p:cNvSpPr txBox="1"/>
          <p:nvPr/>
        </p:nvSpPr>
        <p:spPr>
          <a:xfrm>
            <a:off x="1518198" y="2203820"/>
            <a:ext cx="15251605" cy="7685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400" dirty="0">
                <a:solidFill>
                  <a:schemeClr val="tx2"/>
                </a:solidFill>
              </a:rPr>
              <a:t>To maintain high performance as the hospital database grows, we implemented strategic indexing. This ensures that critical medical data, such as appointment schedules, can be retrieved instantly without full table scans.</a:t>
            </a:r>
          </a:p>
          <a:p>
            <a:pPr algn="l">
              <a:lnSpc>
                <a:spcPts val="4781"/>
              </a:lnSpc>
            </a:pPr>
            <a:endParaRPr lang="en-US" sz="34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81"/>
              </a:lnSpc>
            </a:pPr>
            <a:r>
              <a:rPr lang="en-US" sz="3400" b="1" dirty="0">
                <a:solidFill>
                  <a:schemeClr val="tx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Technical Features:</a:t>
            </a:r>
            <a:endParaRPr lang="ru-RU" sz="3400" b="1" dirty="0">
              <a:solidFill>
                <a:schemeClr val="tx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4781"/>
              </a:lnSpc>
            </a:pPr>
            <a:r>
              <a:rPr lang="en-US" sz="3400" b="1" dirty="0"/>
              <a:t>B-Tree Indexing</a:t>
            </a:r>
            <a:r>
              <a:rPr lang="en-US" sz="3400" dirty="0">
                <a:solidFill>
                  <a:schemeClr val="tx2"/>
                </a:solidFill>
              </a:rPr>
              <a:t>: Created the </a:t>
            </a:r>
            <a:r>
              <a:rPr lang="en-US" sz="3400" dirty="0" err="1">
                <a:solidFill>
                  <a:schemeClr val="tx2"/>
                </a:solidFill>
              </a:rPr>
              <a:t>idx_appointment_date</a:t>
            </a:r>
            <a:r>
              <a:rPr lang="en-US" sz="3400" dirty="0">
                <a:solidFill>
                  <a:schemeClr val="tx2"/>
                </a:solidFill>
              </a:rPr>
              <a:t> index on the </a:t>
            </a:r>
            <a:r>
              <a:rPr lang="en-US" sz="3400" b="1" dirty="0">
                <a:solidFill>
                  <a:schemeClr val="tx2"/>
                </a:solidFill>
              </a:rPr>
              <a:t>Appointment</a:t>
            </a:r>
            <a:r>
              <a:rPr lang="en-US" sz="3400" dirty="0">
                <a:solidFill>
                  <a:schemeClr val="tx2"/>
                </a:solidFill>
              </a:rPr>
              <a:t> table to optimize date-based queries</a:t>
            </a:r>
            <a:endParaRPr lang="en-US" sz="3400" b="1" dirty="0">
              <a:solidFill>
                <a:schemeClr val="tx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4781"/>
              </a:lnSpc>
            </a:pPr>
            <a:r>
              <a:rPr lang="en-US" sz="3400" b="1" dirty="0"/>
              <a:t>Performance Boost</a:t>
            </a:r>
            <a:r>
              <a:rPr lang="en-US" sz="3400" dirty="0">
                <a:solidFill>
                  <a:schemeClr val="tx2"/>
                </a:solidFill>
              </a:rPr>
              <a:t>: Shifted database execution from a slow </a:t>
            </a:r>
            <a:r>
              <a:rPr lang="en-US" sz="3400" b="1" dirty="0">
                <a:solidFill>
                  <a:schemeClr val="tx2"/>
                </a:solidFill>
              </a:rPr>
              <a:t>Sequential Scan</a:t>
            </a:r>
            <a:r>
              <a:rPr lang="en-US" sz="3400" dirty="0">
                <a:solidFill>
                  <a:schemeClr val="tx2"/>
                </a:solidFill>
              </a:rPr>
              <a:t> to a high-speed </a:t>
            </a:r>
            <a:r>
              <a:rPr lang="en-US" sz="3400" b="1" dirty="0">
                <a:solidFill>
                  <a:schemeClr val="tx2"/>
                </a:solidFill>
              </a:rPr>
              <a:t>Index Scan</a:t>
            </a:r>
            <a:r>
              <a:rPr lang="en-US" sz="3400" dirty="0">
                <a:solidFill>
                  <a:schemeClr val="tx2"/>
                </a:solidFill>
              </a:rPr>
              <a:t>.</a:t>
            </a:r>
            <a:endParaRPr lang="en-US" sz="3400" b="1" dirty="0">
              <a:solidFill>
                <a:schemeClr val="tx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4781"/>
              </a:lnSpc>
            </a:pPr>
            <a:r>
              <a:rPr lang="en-US" sz="3400" b="1" dirty="0"/>
              <a:t>Query Analysis</a:t>
            </a:r>
            <a:r>
              <a:rPr lang="en-US" sz="3400" dirty="0">
                <a:solidFill>
                  <a:schemeClr val="tx2"/>
                </a:solidFill>
              </a:rPr>
              <a:t>: Validated efficiency using the EXPLAIN ANALYZE command to monitor execution time.</a:t>
            </a:r>
            <a:endParaRPr lang="en-US" sz="3400" b="1" dirty="0">
              <a:solidFill>
                <a:schemeClr val="tx2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4781"/>
              </a:lnSpc>
            </a:pPr>
            <a:r>
              <a:rPr lang="en-US" sz="3400" b="1" dirty="0"/>
              <a:t>Implementation</a:t>
            </a:r>
            <a:r>
              <a:rPr lang="en-US" sz="3400" dirty="0">
                <a:solidFill>
                  <a:schemeClr val="tx2"/>
                </a:solidFill>
              </a:rPr>
              <a:t>: Used </a:t>
            </a:r>
            <a:r>
              <a:rPr lang="en-US" sz="3400" dirty="0" err="1">
                <a:solidFill>
                  <a:schemeClr val="tx2"/>
                </a:solidFill>
              </a:rPr>
              <a:t>generate_series</a:t>
            </a:r>
            <a:r>
              <a:rPr lang="en-US" sz="3400" dirty="0">
                <a:solidFill>
                  <a:schemeClr val="tx2"/>
                </a:solidFill>
              </a:rPr>
              <a:t> to test the index against a dataset of 1,000 records,</a:t>
            </a:r>
            <a:endParaRPr lang="ru-RU" sz="3400" dirty="0">
              <a:solidFill>
                <a:schemeClr val="tx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7230866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41D483-3264-85B3-1360-61E0F13F3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ACA78C-0EF4-B232-707C-5454FB3F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9144000" cy="1131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4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4366036" cy="3715100"/>
          </a:xfrm>
          <a:custGeom>
            <a:avLst/>
            <a:gdLst/>
            <a:ahLst/>
            <a:cxnLst/>
            <a:rect l="l" t="t" r="r" b="b"/>
            <a:pathLst>
              <a:path w="4366036" h="3715100">
                <a:moveTo>
                  <a:pt x="0" y="3715100"/>
                </a:moveTo>
                <a:lnTo>
                  <a:pt x="4366036" y="3715100"/>
                </a:lnTo>
                <a:lnTo>
                  <a:pt x="4366036" y="0"/>
                </a:lnTo>
                <a:lnTo>
                  <a:pt x="0" y="0"/>
                </a:lnTo>
                <a:lnTo>
                  <a:pt x="0" y="37151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13921964" y="6571900"/>
            <a:ext cx="4366036" cy="3715100"/>
          </a:xfrm>
          <a:custGeom>
            <a:avLst/>
            <a:gdLst/>
            <a:ahLst/>
            <a:cxnLst/>
            <a:rect l="l" t="t" r="r" b="b"/>
            <a:pathLst>
              <a:path w="4366036" h="3715100">
                <a:moveTo>
                  <a:pt x="4366036" y="0"/>
                </a:moveTo>
                <a:lnTo>
                  <a:pt x="0" y="0"/>
                </a:lnTo>
                <a:lnTo>
                  <a:pt x="0" y="3715100"/>
                </a:lnTo>
                <a:lnTo>
                  <a:pt x="4366036" y="3715100"/>
                </a:lnTo>
                <a:lnTo>
                  <a:pt x="43660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006629" y="923925"/>
            <a:ext cx="12274742" cy="92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18"/>
              </a:lnSpc>
            </a:pPr>
            <a:r>
              <a:rPr lang="en-US" sz="5370">
                <a:solidFill>
                  <a:srgbClr val="071947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Database Implementation (MongoDB)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64733" y="2305890"/>
            <a:ext cx="14358533" cy="6570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1"/>
              </a:lnSpc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For the medical history part of our project, we chose MongoDB to handle non-relational data.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b="1" dirty="0">
                <a:solidFill>
                  <a:srgbClr val="0719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Embedding Strategy: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 Instead of splitting data into many tables, we store surgery records and bills directly inside the Patient document.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b="1" dirty="0">
                <a:solidFill>
                  <a:srgbClr val="0719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Performance Optimization: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 This design is optimized for "Read-Heavy" operations. A doctor can retrieve a patient’s entire history in a single query without using slow "Join" operations.</a:t>
            </a:r>
          </a:p>
          <a:p>
            <a:pPr marL="737335" lvl="1" indent="-368668" algn="l">
              <a:lnSpc>
                <a:spcPts val="4781"/>
              </a:lnSpc>
              <a:buFont typeface="Arial"/>
              <a:buChar char="•"/>
            </a:pPr>
            <a:r>
              <a:rPr lang="en-US" sz="3415" b="1" dirty="0">
                <a:solidFill>
                  <a:srgbClr val="0719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Validation: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 We implemented </a:t>
            </a:r>
            <a:r>
              <a:rPr lang="en-US" sz="3415" b="1" dirty="0">
                <a:solidFill>
                  <a:srgbClr val="07194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JSON Schema Validation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 to enforce data types, making our NoSQL collections as reliable as SQL tables.</a:t>
            </a:r>
          </a:p>
          <a:p>
            <a:pPr algn="l">
              <a:lnSpc>
                <a:spcPts val="4781"/>
              </a:lnSpc>
              <a:spcBef>
                <a:spcPct val="0"/>
              </a:spcBef>
            </a:pPr>
            <a:endParaRPr lang="en-US" sz="3415" dirty="0">
              <a:solidFill>
                <a:srgbClr val="07194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972802" y="0"/>
            <a:ext cx="3315198" cy="4370993"/>
          </a:xfrm>
          <a:custGeom>
            <a:avLst/>
            <a:gdLst/>
            <a:ahLst/>
            <a:cxnLst/>
            <a:rect l="l" t="t" r="r" b="b"/>
            <a:pathLst>
              <a:path w="3315198" h="4370993">
                <a:moveTo>
                  <a:pt x="3315198" y="4370993"/>
                </a:moveTo>
                <a:lnTo>
                  <a:pt x="0" y="4370993"/>
                </a:lnTo>
                <a:lnTo>
                  <a:pt x="0" y="0"/>
                </a:lnTo>
                <a:lnTo>
                  <a:pt x="3315198" y="0"/>
                </a:lnTo>
                <a:lnTo>
                  <a:pt x="3315198" y="43709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 flipH="1" flipV="1">
            <a:off x="0" y="5916007"/>
            <a:ext cx="3315198" cy="4370993"/>
          </a:xfrm>
          <a:custGeom>
            <a:avLst/>
            <a:gdLst/>
            <a:ahLst/>
            <a:cxnLst/>
            <a:rect l="l" t="t" r="r" b="b"/>
            <a:pathLst>
              <a:path w="3315198" h="4370993">
                <a:moveTo>
                  <a:pt x="3315198" y="4370993"/>
                </a:moveTo>
                <a:lnTo>
                  <a:pt x="0" y="4370993"/>
                </a:lnTo>
                <a:lnTo>
                  <a:pt x="0" y="0"/>
                </a:lnTo>
                <a:lnTo>
                  <a:pt x="3315198" y="0"/>
                </a:lnTo>
                <a:lnTo>
                  <a:pt x="3315198" y="43709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9309B-471C-7C43-EF9C-A8D34F851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700"/>
            <a:ext cx="18252409" cy="8991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7112454"/>
            <a:ext cx="5727460" cy="3174546"/>
          </a:xfrm>
          <a:custGeom>
            <a:avLst/>
            <a:gdLst/>
            <a:ahLst/>
            <a:cxnLst/>
            <a:rect l="l" t="t" r="r" b="b"/>
            <a:pathLst>
              <a:path w="5727460" h="3174546">
                <a:moveTo>
                  <a:pt x="0" y="3174546"/>
                </a:moveTo>
                <a:lnTo>
                  <a:pt x="5727460" y="3174546"/>
                </a:lnTo>
                <a:lnTo>
                  <a:pt x="5727460" y="0"/>
                </a:lnTo>
                <a:lnTo>
                  <a:pt x="0" y="0"/>
                </a:lnTo>
                <a:lnTo>
                  <a:pt x="0" y="317454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346275" y="1191618"/>
            <a:ext cx="13621079" cy="100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71"/>
              </a:lnSpc>
            </a:pPr>
            <a:r>
              <a:rPr lang="en-US" sz="5908">
                <a:solidFill>
                  <a:srgbClr val="071947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Bridging the Gap: The Java Application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05935" y="2628548"/>
            <a:ext cx="13661419" cy="6114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7335" lvl="1" indent="-368668" algn="l">
              <a:lnSpc>
                <a:spcPts val="4781"/>
              </a:lnSpc>
              <a:spcBef>
                <a:spcPct val="0"/>
              </a:spcBef>
              <a:buFont typeface="Arial"/>
              <a:buChar char="•"/>
            </a:pP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We devel</a:t>
            </a: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oped a functional application using Java and IntelliJ IDEA to interact with the PostgreSQL database.</a:t>
            </a:r>
          </a:p>
          <a:p>
            <a:pPr marL="737335" lvl="1" indent="-368668" algn="l">
              <a:lnSpc>
                <a:spcPts val="4781"/>
              </a:lnSpc>
              <a:spcBef>
                <a:spcPct val="0"/>
              </a:spcBef>
              <a:buFont typeface="Arial"/>
              <a:buChar char="•"/>
            </a:pP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Connectivity: We used JDBC (Java Database Connectivity) as a translator between our code and the SQL server.</a:t>
            </a:r>
          </a:p>
          <a:p>
            <a:pPr marL="737335" lvl="1" indent="-368668" algn="l">
              <a:lnSpc>
                <a:spcPts val="4781"/>
              </a:lnSpc>
              <a:spcBef>
                <a:spcPct val="0"/>
              </a:spcBef>
              <a:buFont typeface="Arial"/>
              <a:buChar char="•"/>
            </a:pP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Full CRUD Support: The application allows users to:</a:t>
            </a:r>
          </a:p>
          <a:p>
            <a:pPr marL="737335" lvl="1" indent="-368668" algn="l">
              <a:lnSpc>
                <a:spcPts val="4781"/>
              </a:lnSpc>
              <a:spcBef>
                <a:spcPct val="0"/>
              </a:spcBef>
              <a:buFont typeface="Arial"/>
              <a:buChar char="•"/>
            </a:pP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Create: Register new patients.</a:t>
            </a:r>
          </a:p>
          <a:p>
            <a:pPr marL="737335" lvl="1" indent="-368668">
              <a:lnSpc>
                <a:spcPts val="4781"/>
              </a:lnSpc>
              <a:spcBef>
                <a:spcPct val="0"/>
              </a:spcBef>
              <a:buFont typeface="Arial"/>
              <a:buChar char="•"/>
            </a:pP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Read: Search and view </a:t>
            </a:r>
            <a:r>
              <a:rPr lang="en-US" sz="3415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patients</a:t>
            </a: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737335" lvl="1" indent="-368668" algn="l">
              <a:lnSpc>
                <a:spcPts val="4781"/>
              </a:lnSpc>
              <a:spcBef>
                <a:spcPct val="0"/>
              </a:spcBef>
              <a:buFont typeface="Arial"/>
              <a:buChar char="•"/>
            </a:pP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Update: Modify patient details.</a:t>
            </a:r>
          </a:p>
          <a:p>
            <a:pPr marL="737335" lvl="1" indent="-368668" algn="l">
              <a:lnSpc>
                <a:spcPts val="4781"/>
              </a:lnSpc>
              <a:spcBef>
                <a:spcPct val="0"/>
              </a:spcBef>
              <a:buFont typeface="Arial"/>
              <a:buChar char="•"/>
            </a:pPr>
            <a:r>
              <a:rPr lang="en-US" sz="3415" u="none" strike="noStrike" dirty="0">
                <a:solidFill>
                  <a:srgbClr val="071947"/>
                </a:solidFill>
                <a:latin typeface="Open Sans"/>
                <a:ea typeface="Open Sans"/>
                <a:cs typeface="Open Sans"/>
                <a:sym typeface="Open Sans"/>
              </a:rPr>
              <a:t>Delete: Remove records when necessary. This demonstrates the real-world usability of our database design.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2560540" y="-68755"/>
            <a:ext cx="5727460" cy="3174546"/>
          </a:xfrm>
          <a:custGeom>
            <a:avLst/>
            <a:gdLst/>
            <a:ahLst/>
            <a:cxnLst/>
            <a:rect l="l" t="t" r="r" b="b"/>
            <a:pathLst>
              <a:path w="5727460" h="3174546">
                <a:moveTo>
                  <a:pt x="5727460" y="0"/>
                </a:moveTo>
                <a:lnTo>
                  <a:pt x="0" y="0"/>
                </a:lnTo>
                <a:lnTo>
                  <a:pt x="0" y="3174546"/>
                </a:lnTo>
                <a:lnTo>
                  <a:pt x="5727460" y="3174546"/>
                </a:lnTo>
                <a:lnTo>
                  <a:pt x="572746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25961" y="838200"/>
            <a:ext cx="10036077" cy="173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8"/>
              </a:lnSpc>
            </a:pPr>
            <a:r>
              <a:rPr lang="en-US" sz="10141">
                <a:solidFill>
                  <a:srgbClr val="071947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317552" y="5805795"/>
            <a:ext cx="4481205" cy="4481205"/>
          </a:xfrm>
          <a:custGeom>
            <a:avLst/>
            <a:gdLst/>
            <a:ahLst/>
            <a:cxnLst/>
            <a:rect l="l" t="t" r="r" b="b"/>
            <a:pathLst>
              <a:path w="4481205" h="4481205">
                <a:moveTo>
                  <a:pt x="0" y="4481205"/>
                </a:moveTo>
                <a:lnTo>
                  <a:pt x="4481205" y="4481205"/>
                </a:lnTo>
                <a:lnTo>
                  <a:pt x="4481205" y="0"/>
                </a:lnTo>
                <a:lnTo>
                  <a:pt x="0" y="0"/>
                </a:lnTo>
                <a:lnTo>
                  <a:pt x="0" y="44812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3806795" y="0"/>
            <a:ext cx="4481205" cy="4481205"/>
          </a:xfrm>
          <a:custGeom>
            <a:avLst/>
            <a:gdLst/>
            <a:ahLst/>
            <a:cxnLst/>
            <a:rect l="l" t="t" r="r" b="b"/>
            <a:pathLst>
              <a:path w="4481205" h="4481205">
                <a:moveTo>
                  <a:pt x="4481205" y="0"/>
                </a:moveTo>
                <a:lnTo>
                  <a:pt x="0" y="0"/>
                </a:lnTo>
                <a:lnTo>
                  <a:pt x="0" y="4481205"/>
                </a:lnTo>
                <a:lnTo>
                  <a:pt x="4481205" y="4481205"/>
                </a:lnTo>
                <a:lnTo>
                  <a:pt x="4481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680091" y="2889609"/>
            <a:ext cx="15579209" cy="5906412"/>
            <a:chOff x="0" y="0"/>
            <a:chExt cx="4103166" cy="15555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03166" cy="1555598"/>
            </a:xfrm>
            <a:custGeom>
              <a:avLst/>
              <a:gdLst/>
              <a:ahLst/>
              <a:cxnLst/>
              <a:rect l="l" t="t" r="r" b="b"/>
              <a:pathLst>
                <a:path w="4103166" h="1555598">
                  <a:moveTo>
                    <a:pt x="0" y="0"/>
                  </a:moveTo>
                  <a:lnTo>
                    <a:pt x="4103166" y="0"/>
                  </a:lnTo>
                  <a:lnTo>
                    <a:pt x="4103166" y="1555598"/>
                  </a:lnTo>
                  <a:lnTo>
                    <a:pt x="0" y="1555598"/>
                  </a:lnTo>
                  <a:close/>
                </a:path>
              </a:pathLst>
            </a:custGeom>
            <a:solidFill>
              <a:srgbClr val="192E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03166" cy="15936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27896" y="3532495"/>
            <a:ext cx="13832209" cy="455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8"/>
              </a:lnSpc>
            </a:pPr>
            <a:r>
              <a:rPr lang="en-US" sz="3227" dirty="0">
                <a:solidFill>
                  <a:srgbClr val="E3F4FF"/>
                </a:solidFill>
                <a:latin typeface="Forum"/>
                <a:ea typeface="Forum"/>
                <a:cs typeface="Forum"/>
                <a:sym typeface="Forum"/>
              </a:rPr>
              <a:t>Our project successfully demonstrates how to build a complex, multi-layered system.</a:t>
            </a:r>
          </a:p>
          <a:p>
            <a:pPr marL="696801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 dirty="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PostgreSQL </a:t>
            </a:r>
            <a:r>
              <a:rPr lang="en-US" sz="3227" dirty="0">
                <a:solidFill>
                  <a:srgbClr val="E3F4FF"/>
                </a:solidFill>
                <a:latin typeface="Forum"/>
                <a:ea typeface="Forum"/>
                <a:cs typeface="Forum"/>
                <a:sym typeface="Forum"/>
              </a:rPr>
              <a:t>provides the transactional security (ACID) needed for billing and registration.</a:t>
            </a:r>
          </a:p>
          <a:p>
            <a:pPr marL="696801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 dirty="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MongoDB </a:t>
            </a:r>
            <a:r>
              <a:rPr lang="en-US" sz="3227" dirty="0">
                <a:solidFill>
                  <a:srgbClr val="E3F4FF"/>
                </a:solidFill>
                <a:latin typeface="Forum"/>
                <a:ea typeface="Forum"/>
                <a:cs typeface="Forum"/>
                <a:sym typeface="Forum"/>
              </a:rPr>
              <a:t>offers the speed and flexibility required for medical history retrieval.</a:t>
            </a:r>
          </a:p>
          <a:p>
            <a:pPr marL="696801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 dirty="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Java </a:t>
            </a:r>
            <a:r>
              <a:rPr lang="en-US" sz="3227" dirty="0">
                <a:solidFill>
                  <a:srgbClr val="E3F4FF"/>
                </a:solidFill>
                <a:latin typeface="Forum"/>
                <a:ea typeface="Forum"/>
                <a:cs typeface="Forum"/>
                <a:sym typeface="Forum"/>
              </a:rPr>
              <a:t>acts as the interface that brings these technologies together for the end-user. By following a strict workflow—from Business Rules to Indexing—we created a system that is both reliable and highly efficient.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691</Words>
  <Application>Microsoft Office PowerPoint</Application>
  <PresentationFormat>Custom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Hammersmith One</vt:lpstr>
      <vt:lpstr>Calibri</vt:lpstr>
      <vt:lpstr>Open Sans</vt:lpstr>
      <vt:lpstr>Forum</vt:lpstr>
      <vt:lpstr>Arial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creator>Kostya Permin</dc:creator>
  <cp:lastModifiedBy>Пермин Константин Алексеевич</cp:lastModifiedBy>
  <cp:revision>8</cp:revision>
  <dcterms:created xsi:type="dcterms:W3CDTF">2006-08-16T00:00:00Z</dcterms:created>
  <dcterms:modified xsi:type="dcterms:W3CDTF">2026-05-12T08:21:45Z</dcterms:modified>
  <dc:identifier>DAHJZQ-fsn8</dc:identifier>
</cp:coreProperties>
</file>